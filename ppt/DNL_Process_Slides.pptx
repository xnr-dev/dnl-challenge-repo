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1B45"/>
          </a:solidFill>
          <a:ln w="12700">
            <a:solidFill>
              <a:srgbClr val="111B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5943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HGB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Checklist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8803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GAAP (HGB) · Medium GmbH · Agent-Based Workflow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4622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HGB §§ 264 ff.     </a:t>
            </a:r>
            <a:pPr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GmbH (§ 267 Abs. 2)     </a:t>
            </a:r>
            <a:pPr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Nubert electronic GmbH FY2023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0" y="228600"/>
            <a:ext cx="1417320" cy="411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0" y="2286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</a:rPr>
              <a:t>DNL Challenge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2651760" cy="1417320"/>
          </a:xfrm>
          <a:prstGeom prst="rect">
            <a:avLst/>
          </a:prstGeom>
          <a:solidFill>
            <a:srgbClr val="0D1F4E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4813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</a:rPr>
              <a:t>📊 Excel Deliverable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63640" y="18013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checklist.xlsx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results.xlsx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263640" y="221284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FC3F7"/>
                </a:solidFill>
              </a:rPr>
              <a:t>github.com/xNR-dev/dnl-challenge-repo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Scope &amp; Assumptions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5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Slide 2 of 8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51560"/>
          <a:ext cx="5303520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GmbH — Mittelgroße Kapitalgesellschaft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 267 Abs. 2 HGB (confirmed in Nubert Anhang)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HGB §§ 264 ff. — standalone Einzelabschluss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P&amp;L format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Gesamtkostenverfahren (§ 275 Abs. 1 HGB)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Applicable 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ending 31 December 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Disclosure only — not recognition or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Nubert electronic GmbH, Schwäbisch Gmünd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943600" y="1051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Components In Scope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1463040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43600" y="1463040"/>
            <a:ext cx="54864" cy="53035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53328" y="14904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Bilanz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53328" y="1719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266 HGB — mandatory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943600" y="2121408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0" y="2121408"/>
            <a:ext cx="54864" cy="53035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GuV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053328" y="23774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275 HGB — Gesamtkostenverfahren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943600" y="2779776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0" y="2779776"/>
            <a:ext cx="54864" cy="53035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8072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053328" y="303580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§§ 284–288 HGB — medium entity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0" y="3438144"/>
            <a:ext cx="2834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0" y="3438144"/>
            <a:ext cx="54864" cy="530352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53328" y="34655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Lagebericht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053328" y="36941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9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289 HGB — mandatory for medium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943600" y="4160520"/>
            <a:ext cx="2834640" cy="502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35040" y="4187952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B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Konzernabschluss · Kapitalflussrechnung · CSRD · Sector-specific formats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74320" y="490118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</a:rPr>
              <a:t>AI-Driven HGB Disclosure Checklist  ·  DNL Take-Home Challenge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8503920" y="4901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Overall 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5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Slide 3 of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09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as source of truth · AI agents for generation &amp; validation · Excel as output artefact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508760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545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Task Decomposition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19110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broken into 4 parallel section agents (Bilanz, GuV, Anhang, Lagebericht), each with focused context and the same schema contract.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508760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1545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Schema Enforcement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608" y="19110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write to a shared schema.json. Every item requires: id, hgb_reference, obligation (M/C), trigger_condition, completeness_prompt.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10896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108960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31455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Iterative Refinement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" y="35112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output validated against Nubert FS. Web research used to identify §288 Abs. 2 medium-entity exemptions initially missed. Pass rate improved from 88.7% → 92.2%.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108960"/>
            <a:ext cx="4160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3108960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4608" y="31455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Reproducibility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64608" y="35112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is generated programmatically from JSON via generate_excel.py. Any entity's FS can be substituted — the checklist is entity-agnostic.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90118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</a:rPr>
              <a:t>AI-Driven HGB Disclosure Checklist  ·  DNL Take-Home Challenge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503920" y="4901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Agent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5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Slide 4 of 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0" y="1005840"/>
            <a:ext cx="274320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10058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scope.md + schema.json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0" y="1481328"/>
            <a:ext cx="0" cy="256032"/>
          </a:xfrm>
          <a:prstGeom prst="line">
            <a:avLst/>
          </a:prstGeom>
          <a:noFill/>
          <a:ln w="19050">
            <a:solidFill>
              <a:srgbClr val="8094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737360"/>
            <a:ext cx="-3291840" cy="0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1737360"/>
            <a:ext cx="0" cy="256032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993392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C3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993392"/>
            <a:ext cx="2011680" cy="2743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</a:rPr>
              <a:t>Bilanz Agent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2286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20 items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BIL-001–020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737360"/>
            <a:ext cx="-1143000" cy="0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1737360"/>
            <a:ext cx="0" cy="256032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23160" y="1993392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C3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1993392"/>
            <a:ext cx="2011680" cy="2743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</a:rPr>
              <a:t>GuV Agent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468880" y="2286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19 items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GUV-001–019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0" y="1737360"/>
            <a:ext cx="1005840" cy="0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77840" y="1737360"/>
            <a:ext cx="0" cy="256032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1993392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C3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993392"/>
            <a:ext cx="2011680" cy="2743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</a:rPr>
              <a:t>Anhang Agent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17720" y="2286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32 items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ANH-001–032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1737360"/>
            <a:ext cx="3154680" cy="0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6680" y="1737360"/>
            <a:ext cx="0" cy="256032"/>
          </a:xfrm>
          <a:prstGeom prst="line">
            <a:avLst/>
          </a:prstGeom>
          <a:noFill/>
          <a:ln w="15240">
            <a:solidFill>
              <a:srgbClr val="4FC3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0840" y="1993392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C3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20840" y="1993392"/>
            <a:ext cx="2011680" cy="2743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761"/>
                </a:solidFill>
              </a:rPr>
              <a:t>Lagebericht Agent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766560" y="2286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16 items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11B45"/>
                </a:solidFill>
              </a:rPr>
              <a:t>LAG-001–016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2816352"/>
            <a:ext cx="8458200" cy="0"/>
          </a:xfrm>
          <a:prstGeom prst="line">
            <a:avLst/>
          </a:prstGeom>
          <a:noFill/>
          <a:ln w="12700">
            <a:solidFill>
              <a:srgbClr val="8094C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2816352"/>
            <a:ext cx="0" cy="256032"/>
          </a:xfrm>
          <a:prstGeom prst="line">
            <a:avLst/>
          </a:prstGeom>
          <a:noFill/>
          <a:ln w="19050">
            <a:solidFill>
              <a:srgbClr val="8094C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3072384"/>
            <a:ext cx="3200400" cy="475488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71800" y="307238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E20"/>
                </a:solidFill>
              </a:rPr>
              <a:t>checklist.json  ·  87 items  ·  Source of truth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0" y="3547872"/>
            <a:ext cx="0" cy="256032"/>
          </a:xfrm>
          <a:prstGeom prst="line">
            <a:avLst/>
          </a:prstGeom>
          <a:noFill/>
          <a:ln w="19050">
            <a:solidFill>
              <a:srgbClr val="8094C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14600" y="3803904"/>
            <a:ext cx="4114800" cy="0"/>
          </a:xfrm>
          <a:prstGeom prst="line">
            <a:avLst/>
          </a:prstGeom>
          <a:noFill/>
          <a:ln w="12700">
            <a:solidFill>
              <a:srgbClr val="8094C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97280" y="3803904"/>
            <a:ext cx="2834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97280" y="3803904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B45"/>
                </a:solidFill>
              </a:rPr>
              <a:t>generate_excel.py → checklist.xlsx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12080" y="3803904"/>
            <a:ext cx="2834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212080" y="3803904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B45"/>
                </a:solidFill>
              </a:rPr>
              <a:t>generate_results_excel.py → results.xlsx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90118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</a:rPr>
              <a:t>AI-Driven HGB Disclosure Checklist  ·  DNL Take-Home Challenge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503920" y="4901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Checklist Structure &amp; Quality Controls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5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Slide 5 of 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196596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0972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C3F7"/>
                </a:solidFill>
              </a:rPr>
              <a:t>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Total Items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1051560"/>
            <a:ext cx="196596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972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C3F7"/>
                </a:solidFill>
              </a:rPr>
              <a:t>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468880" y="160020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Mandatory (M)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1051560"/>
            <a:ext cx="196596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7720" y="10972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C3F7"/>
                </a:solidFill>
              </a:rPr>
              <a:t>43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17720" y="160020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Conditional (C)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1051560"/>
            <a:ext cx="196596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66560" y="10972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C3F7"/>
                </a:solidFill>
              </a:rPr>
              <a:t>100%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766560" y="160020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HGB Citations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48840"/>
          <a:ext cx="5029200" cy="2423160"/>
        </p:xfrm>
        <a:graphic>
          <a:graphicData uri="http://schemas.openxmlformats.org/drawingml/2006/table">
            <a:tbl>
              <a:tblPr/>
              <a:tblGrid>
                <a:gridCol w="2560320"/>
                <a:gridCol w="82296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Bilanz (Balance Sheet)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GuV (P&amp;L)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Anhang (Notes)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Lagebericht (Management Report)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562356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23560" y="251460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on every item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HGB citations verified — FY2023 law only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agent cross-checked all 87 items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[REVIEW] flags for uncertain citations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§288 Abs. 2 medium exemptions explicitly documented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GmbH-specific items included (§42 GmbHG, §286 Abs. 4)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4320" y="490118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</a:rPr>
              <a:t>AI-Driven HGB Disclosure Checklist  ·  DNL Take-Home Challenge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503920" y="4901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Verification: Nubert electronic GmbH FY2023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0" y="45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Slide 6 of 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196596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07899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32"/>
                </a:solidFill>
              </a:rPr>
              <a:t>47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20040" y="15361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</a:rPr>
              <a:t>Yes — Disclosed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68880" y="1051560"/>
            <a:ext cx="196596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7899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71C1C"/>
                </a:solidFill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468880" y="15361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1C1C"/>
                </a:solidFill>
              </a:rPr>
              <a:t>No — Missing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1051560"/>
            <a:ext cx="196596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7720" y="107899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65C0"/>
                </a:solidFill>
              </a:rPr>
              <a:t>21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15361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5C0"/>
                </a:solidFill>
              </a:rPr>
              <a:t>N/A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66560" y="1051560"/>
            <a:ext cx="196596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E651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66560" y="107899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65100"/>
                </a:solidFill>
              </a:rPr>
              <a:t>15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766560" y="15361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5100"/>
                </a:solidFill>
              </a:rPr>
              <a:t>Review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75120" y="1024128"/>
            <a:ext cx="214884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0515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C3F7"/>
                </a:solidFill>
              </a:rPr>
              <a:t>92.2%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675120" y="1600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Pass Rate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" y="2029968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4 Genuine Disclosure Gaps Identified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77440"/>
          <a:ext cx="8503920" cy="2148840"/>
        </p:xfrm>
        <a:graphic>
          <a:graphicData uri="http://schemas.openxmlformats.org/drawingml/2006/table">
            <a:tbl>
              <a:tblPr/>
              <a:tblGrid>
                <a:gridCol w="914400"/>
                <a:gridCol w="5303520"/>
                <a:gridCol w="2286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HGB Ref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1C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ANH-002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Currency translation methods not disclosed despite €85k FX losses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 284 Abs. 2 Nr.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ANH-003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tax accounting policy — completely silent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 284 Abs. 2 Nr. 3, § 274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ANH-010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Participations not identified by name and registered office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 285 Nr. 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ANH-028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tax recognition — no recognition despite material temp. differences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 274 HGB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4320" y="490118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</a:rPr>
              <a:t>AI-Driven HGB Disclosure Checklist  ·  DNL Take-Home Challenge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503920" y="4901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Trade-offs &amp; Limitations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5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Slide 7 of 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788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278892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24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Only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481328"/>
            <a:ext cx="2606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covers disclosure requirements, not recognition or measurement. An auditor would use separate substantive procedures for valuation testing.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18688" y="1097280"/>
            <a:ext cx="2788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1097280"/>
            <a:ext cx="278892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128" y="1124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10128" y="1481328"/>
            <a:ext cx="2606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HGB references were AI-generated and validated by a second agent. One item (ANH-028) carries a [REVIEW] flag. Human expert sign-off is required before live deployment.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63056" y="1097280"/>
            <a:ext cx="2788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63056" y="1097280"/>
            <a:ext cx="278892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11247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Entity Type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54496" y="1481328"/>
            <a:ext cx="2606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GmbH only. An AG would require additional items (§285 Nr. 9 full remuneration, Aufsichtsrat disclosures). KG/oHG formats are excluded.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788920"/>
            <a:ext cx="2788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788920"/>
            <a:ext cx="278892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8163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Extraction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172968"/>
            <a:ext cx="2606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extraction from Nubert FS may miss structured data in tables. The Anlagenspiegel (Anlage 1) was referenced in the Anhang but not included in the extracted text.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18688" y="2788920"/>
            <a:ext cx="2788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18688" y="2788920"/>
            <a:ext cx="278892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0128" y="28163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Consciousness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3172968"/>
            <a:ext cx="2606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316 requests · 16.9M tokens consumed via Kilo Code gateway (Gemini 3.1 Flash-Lite @ $0.25/$1.50 per M + MiMo v2 Pro). Actual billed cost: $0.00 via Kilo free tier. At standard Gemini 3.1 Flash-Lite rates, full run would cost ~$2–4.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63056" y="2788920"/>
            <a:ext cx="2788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63056" y="2788920"/>
            <a:ext cx="2788920" cy="32918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54496" y="28163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Konzernabschluss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54496" y="3172968"/>
            <a:ext cx="2606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1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accounts (§§290 ff.) are a separate, materially larger scope. This checklist is strictly standalone Einzelabschluss.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901184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</a:rPr>
              <a:t>AI-Driven HGB Disclosure Checklist  ·  DNL Take-Home Challenge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503920" y="49011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65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8138160" cy="9601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24712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06040" y="1097280"/>
            <a:ext cx="36576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143000"/>
            <a:ext cx="5760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workflow skill — packaged for DNL to extend to any framework or entity type.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github.com/xNR-dev/dnl-challenge-repo/blob/main/SKILL.md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212848"/>
            <a:ext cx="2651760" cy="2240280"/>
          </a:xfrm>
          <a:prstGeom prst="rect">
            <a:avLst/>
          </a:prstGeom>
          <a:solidFill>
            <a:srgbClr val="111B45"/>
          </a:solidFill>
          <a:ln w="12700">
            <a:solidFill>
              <a:srgbClr val="2A3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212848"/>
            <a:ext cx="2651760" cy="347472"/>
          </a:xfrm>
          <a:prstGeom prst="rect">
            <a:avLst/>
          </a:prstGeom>
          <a:solidFill>
            <a:srgbClr val="0D1F4E"/>
          </a:solidFill>
          <a:ln w="12700">
            <a:solidFill>
              <a:srgbClr val="0D1F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Other Frameworks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2606040"/>
            <a:ext cx="2432304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scope.md for IFRS or UK GAAP manifest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agents re-prompted per standard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completeness_prompt is framework-agnostic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cost: under $0.50 per checklist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37560" y="2212848"/>
            <a:ext cx="2651760" cy="2240280"/>
          </a:xfrm>
          <a:prstGeom prst="rect">
            <a:avLst/>
          </a:prstGeom>
          <a:solidFill>
            <a:srgbClr val="111B45"/>
          </a:solidFill>
          <a:ln w="12700">
            <a:solidFill>
              <a:srgbClr val="2A3F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212848"/>
            <a:ext cx="2651760" cy="347472"/>
          </a:xfrm>
          <a:prstGeom prst="rect">
            <a:avLst/>
          </a:prstGeom>
          <a:solidFill>
            <a:srgbClr val="0D1F4E"/>
          </a:solidFill>
          <a:ln w="12700">
            <a:solidFill>
              <a:srgbClr val="0D1F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22128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Entity Variants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47288" y="2606040"/>
            <a:ext cx="2432304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GmbH: add §285 Nr. 9 full remuneration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AG: add Aufsichtsrat, §289a HGB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entities: apply §288 Abs. 1 exemptions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accounts: add §§ 290 ff. agent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72200" y="2212848"/>
            <a:ext cx="2651760" cy="2240280"/>
          </a:xfrm>
          <a:prstGeom prst="rect">
            <a:avLst/>
          </a:prstGeom>
          <a:solidFill>
            <a:srgbClr val="111B45"/>
          </a:solidFill>
          <a:ln w="12700">
            <a:solidFill>
              <a:srgbClr val="2A3F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212848"/>
            <a:ext cx="2651760" cy="347472"/>
          </a:xfrm>
          <a:prstGeom prst="rect">
            <a:avLst/>
          </a:prstGeom>
          <a:solidFill>
            <a:srgbClr val="0D1F4E"/>
          </a:solidFill>
          <a:ln w="12700">
            <a:solidFill>
              <a:srgbClr val="0D1F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221284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Product Integration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81928" y="2606040"/>
            <a:ext cx="2432304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checklist.json → ingestible by DNL ai/checklists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completeness_prompt → validator agent input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results.json → structured audit evidence store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generate_excel.py → white-label report output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11B45"/>
          </a:solidFill>
          <a:ln w="12700">
            <a:solidFill>
              <a:srgbClr val="111B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64515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FC3F7"/>
                </a:solidFill>
              </a:rPr>
              <a:t>github.com/xNR-dev/dnl-challenge-repo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0" y="4645152"/>
            <a:ext cx="64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8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AI-Driven HGB Disclosure Checklist — DNL Take-Home Challenge</dc:title>
  <dc:subject>PptxGenJS Presentation</dc:subject>
  <dc:creator>PptxGenJS</dc:creator>
  <cp:lastModifiedBy>PptxGenJS</cp:lastModifiedBy>
  <cp:revision>1</cp:revision>
  <dcterms:created xsi:type="dcterms:W3CDTF">2026-03-28T19:57:48Z</dcterms:created>
  <dcterms:modified xsi:type="dcterms:W3CDTF">2026-03-28T19:57:48Z</dcterms:modified>
</cp:coreProperties>
</file>