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1B45"/>
          </a:solidFill>
          <a:ln w="12700">
            <a:solidFill>
              <a:srgbClr val="111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5943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HGB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Checklist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GAAP (HGB) · Medium GmbH · Agent-Based Workflow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4622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§§ 264 ff.     </a:t>
            </a:r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GmbH (§ 267 Abs. 2)     </a:t>
            </a:r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Nubert electronic GmbH FY2023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0" y="228600"/>
            <a:ext cx="1417320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2286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DNL Challenge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2651760" cy="1417320"/>
          </a:xfrm>
          <a:prstGeom prst="rect">
            <a:avLst/>
          </a:prstGeom>
          <a:solidFill>
            <a:srgbClr val="0D1F4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C3F7"/>
                </a:solidFill>
              </a:rPr>
              <a:t>📊 Excel Deliverable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63640" y="18013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checklist.xlsx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results.xlsx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63640" y="22128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FC3F7"/>
                </a:solidFill>
              </a:rPr>
              <a:t>github.com/xNR-dev/dnl-challenge-repo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Scope &amp; Assumptions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5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2 of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530352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GmbH — Mittelgroße Kapitalgesellschaft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 267 Abs. 2 HGB (confirmed in Nubert Anhang)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HGB §§ 264 ff. — standalone Einzelabschluss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P&amp;L 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Gesamtkostenverfahren (§ 275 Abs. 1 HGB)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Applicable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 ending 31 December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Disclosure only — not recognition or measurement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Nubert electronic GmbH, Schwäbisch Gmünd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Components In Scope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0" y="1463040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0" y="1463040"/>
            <a:ext cx="54864" cy="5303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53328" y="14904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Bilanz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53328" y="17190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266 HGB — mandatory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0" y="2121408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0" y="2121408"/>
            <a:ext cx="54864" cy="5303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148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53328" y="23774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275 HGB — Gesamtkostenverfahren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43600" y="2779776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0" y="2779776"/>
            <a:ext cx="54864" cy="5303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072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Anhang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53328" y="303580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§§ 284–288 HGB — medium entity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43600" y="3438144"/>
            <a:ext cx="2834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0" y="3438144"/>
            <a:ext cx="54864" cy="5303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53328" y="34655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Lagebericht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053328" y="369417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289 HGB — mandatory for medium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943600" y="4160520"/>
            <a:ext cx="283464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35040" y="418795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Konzernabschluss · Kapitalflussrechnung · CSRD · Sector-specific formats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AI-Driven HGB Disclosure Checklist  ·  DNL Take-Home Challenge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Overall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5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3 of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9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as source of truth · AI agents for generation &amp; validation · Excel as output artefact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4160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453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Task Decomposition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911096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broken into 4 parallel section agents (Bilanz, GuV, Anhang, Lagebericht), each with focused context and the same schema contract.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08760"/>
            <a:ext cx="4160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5453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Schema Enforcement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1911096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write to a shared schema.json. Every item requires: id, hgb_reference, obligation (M/C), trigger_condition, completeness_prompt.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108960"/>
            <a:ext cx="4160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1455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Iterative Refinement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" y="3511296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output validated against Nubert FS. Web research used to identify §288 Abs. 2 medium-entity exemptions initially missed. Pass rate improved from 88.7% → 92.2%.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10896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108960"/>
            <a:ext cx="4160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31455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Reproducibility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3511296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is generated programmatically from JSON via generate_excel.py. Any entity's FS can be substituted — the checklist is entity-agnostic.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AI-Driven HGB Disclosure Checklist  ·  DNL Take-Home Challenge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Agent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5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4 of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0" y="1005840"/>
            <a:ext cx="274320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0058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scope.md + schema.json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481328"/>
            <a:ext cx="0" cy="256032"/>
          </a:xfrm>
          <a:prstGeom prst="line">
            <a:avLst/>
          </a:prstGeom>
          <a:noFill/>
          <a:ln w="19050">
            <a:solidFill>
              <a:srgbClr val="809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737360"/>
            <a:ext cx="-3291840" cy="0"/>
          </a:xfrm>
          <a:prstGeom prst="line">
            <a:avLst/>
          </a:prstGeom>
          <a:noFill/>
          <a:ln w="15240">
            <a:solidFill>
              <a:srgbClr val="4FC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1737360"/>
            <a:ext cx="0" cy="256032"/>
          </a:xfrm>
          <a:prstGeom prst="line">
            <a:avLst/>
          </a:prstGeom>
          <a:noFill/>
          <a:ln w="15240">
            <a:solidFill>
              <a:srgbClr val="4FC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93392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93392"/>
            <a:ext cx="2011680" cy="2743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Bilanz Agent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B45"/>
                </a:solidFill>
              </a:rPr>
              <a:t>20 items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B45"/>
                </a:solidFill>
              </a:rPr>
              <a:t>BIL-001–020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737360"/>
            <a:ext cx="-1143000" cy="0"/>
          </a:xfrm>
          <a:prstGeom prst="line">
            <a:avLst/>
          </a:prstGeom>
          <a:noFill/>
          <a:ln w="15240">
            <a:solidFill>
              <a:srgbClr val="4FC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737360"/>
            <a:ext cx="0" cy="256032"/>
          </a:xfrm>
          <a:prstGeom prst="line">
            <a:avLst/>
          </a:prstGeom>
          <a:noFill/>
          <a:ln w="15240">
            <a:solidFill>
              <a:srgbClr val="4FC3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1993392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1993392"/>
            <a:ext cx="2011680" cy="2743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GuV Agent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B45"/>
                </a:solidFill>
              </a:rPr>
              <a:t>19 items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B45"/>
                </a:solidFill>
              </a:rPr>
              <a:t>GUV-001–019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1737360"/>
            <a:ext cx="1005840" cy="0"/>
          </a:xfrm>
          <a:prstGeom prst="line">
            <a:avLst/>
          </a:prstGeom>
          <a:noFill/>
          <a:ln w="15240">
            <a:solidFill>
              <a:srgbClr val="4FC3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1737360"/>
            <a:ext cx="0" cy="256032"/>
          </a:xfrm>
          <a:prstGeom prst="line">
            <a:avLst/>
          </a:prstGeom>
          <a:noFill/>
          <a:ln w="15240">
            <a:solidFill>
              <a:srgbClr val="4FC3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993392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993392"/>
            <a:ext cx="2011680" cy="2743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Anhang Agent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1772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B45"/>
                </a:solidFill>
              </a:rPr>
              <a:t>32 items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B45"/>
                </a:solidFill>
              </a:rPr>
              <a:t>ANH-001–032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1737360"/>
            <a:ext cx="3154680" cy="0"/>
          </a:xfrm>
          <a:prstGeom prst="line">
            <a:avLst/>
          </a:prstGeom>
          <a:noFill/>
          <a:ln w="15240">
            <a:solidFill>
              <a:srgbClr val="4FC3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6680" y="1737360"/>
            <a:ext cx="0" cy="256032"/>
          </a:xfrm>
          <a:prstGeom prst="line">
            <a:avLst/>
          </a:prstGeom>
          <a:noFill/>
          <a:ln w="15240">
            <a:solidFill>
              <a:srgbClr val="4FC3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0840" y="1993392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20840" y="1993392"/>
            <a:ext cx="2011680" cy="2743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Lagebericht Agent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6656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B45"/>
                </a:solidFill>
              </a:rPr>
              <a:t>16 items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B45"/>
                </a:solidFill>
              </a:rPr>
              <a:t>LAG-001–016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816352"/>
            <a:ext cx="8458200" cy="0"/>
          </a:xfrm>
          <a:prstGeom prst="line">
            <a:avLst/>
          </a:prstGeom>
          <a:noFill/>
          <a:ln w="12700">
            <a:solidFill>
              <a:srgbClr val="8094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2816352"/>
            <a:ext cx="0" cy="256032"/>
          </a:xfrm>
          <a:prstGeom prst="line">
            <a:avLst/>
          </a:prstGeom>
          <a:noFill/>
          <a:ln w="19050">
            <a:solidFill>
              <a:srgbClr val="8094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1800" y="3072384"/>
            <a:ext cx="320040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971800" y="307238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checklist.json  ·  87 items  ·  Source of truth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3547872"/>
            <a:ext cx="0" cy="256032"/>
          </a:xfrm>
          <a:prstGeom prst="line">
            <a:avLst/>
          </a:prstGeom>
          <a:noFill/>
          <a:ln w="19050">
            <a:solidFill>
              <a:srgbClr val="8094C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14600" y="3803904"/>
            <a:ext cx="4114800" cy="0"/>
          </a:xfrm>
          <a:prstGeom prst="line">
            <a:avLst/>
          </a:prstGeom>
          <a:noFill/>
          <a:ln w="12700">
            <a:solidFill>
              <a:srgbClr val="8094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7280" y="3803904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97280" y="380390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B45"/>
                </a:solidFill>
              </a:rPr>
              <a:t>generate_excel.py → checklist.xlsx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212080" y="3803904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212080" y="380390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B45"/>
                </a:solidFill>
              </a:rPr>
              <a:t>generate_results_excel.py → results.xlsx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AI-Driven HGB Disclosure Checklist  ·  DNL Take-Home Challenge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Checklist Structure &amp; Quality Controls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5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5 of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6596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</a:rPr>
              <a:t>87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Total Items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6596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972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</a:rPr>
              <a:t>44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68880" y="1600200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Mandatory (M)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051560"/>
            <a:ext cx="196596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0972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</a:rPr>
              <a:t>43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17720" y="1600200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Conditional (C)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196596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0972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</a:rPr>
              <a:t>100%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66560" y="1600200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HGB Citations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48840"/>
          <a:ext cx="5029200" cy="2423160"/>
        </p:xfrm>
        <a:graphic>
          <a:graphicData uri="http://schemas.openxmlformats.org/drawingml/2006/table">
            <a:tbl>
              <a:tblPr/>
              <a:tblGrid>
                <a:gridCol w="2560320"/>
                <a:gridCol w="82296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Bilanz (Balance Sheet)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GuV (P&amp;L)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Anhang (Notes)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Lagebericht (Management Report)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62356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23560" y="2514600"/>
            <a:ext cx="3246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1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on every item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1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citations verified — FY2023 law only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1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agent cross-checked all 87 items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1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[REVIEW] flags for uncertain citations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1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§288 Abs. 2 medium exemptions explicitly documented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1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GmbH-specific items included (§42 GmbHG, §286 Abs. 4)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AI-Driven HGB Disclosure Checklist  ·  DNL Take-Home Challenge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Verification: Nubert electronic GmbH FY2023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45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6 of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6596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</a:rPr>
              <a:t>47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Yes — Disclosed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65960" cy="86868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7899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71C1C"/>
                </a:solidFill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1536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1C1C"/>
                </a:solidFill>
              </a:rPr>
              <a:t>No — Missing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051560"/>
            <a:ext cx="1965960" cy="8686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07899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</a:rPr>
              <a:t>21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17720" y="1536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N/A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1965960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07899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5100"/>
                </a:solidFill>
              </a:rPr>
              <a:t>15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66560" y="1536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5100"/>
                </a:solidFill>
              </a:rPr>
              <a:t>Review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0" y="1024128"/>
            <a:ext cx="21488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0515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C3F7"/>
                </a:solidFill>
              </a:rPr>
              <a:t>92.2%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675120" y="1600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2029968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4 Genuine Disclosure Gaps Identified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77440"/>
          <a:ext cx="8503920" cy="2148840"/>
        </p:xfrm>
        <a:graphic>
          <a:graphicData uri="http://schemas.openxmlformats.org/drawingml/2006/table">
            <a:tbl>
              <a:tblPr/>
              <a:tblGrid>
                <a:gridCol w="914400"/>
                <a:gridCol w="5303520"/>
                <a:gridCol w="22860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HGB Ref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ANH-002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 translation methods not disclosed despite €85k FX losses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 284 Abs. 2 Nr.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ANH-003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 tax accounting policy — completely silent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 284 Abs. 2 Nr. 3, § 274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ANH-010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Participations not identified by name and registered office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 285 Nr. 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ANH-028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 tax recognition — no recognition despite material temp. differences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 274 HGB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AI-Driven HGB Disclosure Checklist  ·  DNL Take-Home Challenge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Trade-offs &amp; Limitations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5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7 of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889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24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Only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1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covers disclosure requirements, not recognition or measurement. An auditor would use separate substantive procedures for valuation testing.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18688" y="109728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097280"/>
            <a:ext cx="27889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124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10128" y="1481328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1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references were AI-generated and validated by a second agent. One item (ANH-028) carries a [REVIEW] flag. Human expert sign-off is required before live deployment.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63056" y="109728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097280"/>
            <a:ext cx="27889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124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Entity Type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54496" y="1481328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1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GmbH only. An AG would require additional items (§285 Nr. 9 full remuneration, Aufsichtsrat disclosures). KG/oHG formats are excluded.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88920"/>
            <a:ext cx="27889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163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172968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1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from Nubert FS may miss structured data in tables. The Anlagenspiegel (Anlage 1) was referenced in the Anhang but not included in the extracted text.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18688" y="278892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2788920"/>
            <a:ext cx="27889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8163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Consciousness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3172968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1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generation used Claude Sonnet via claude.ai and Kimi via Kilo Code — both accessible at low/zero marginal cost. Token usage was not metered but Sonnet is priced at $3/$15 per M tokens.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63056" y="2788920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2788920"/>
            <a:ext cx="27889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28163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Konzernabschluss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54496" y="3172968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1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accounts (§§290 ff.) are a separate, materially larger scope. This checklist is strictly standalone Einzelabschluss.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011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</a:rPr>
              <a:t>AI-Driven HGB Disclosure Checklist  ·  DNL Take-Home Challenge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0392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651760" cy="3383280"/>
          </a:xfrm>
          <a:prstGeom prst="rect">
            <a:avLst/>
          </a:prstGeom>
          <a:solidFill>
            <a:srgbClr val="111B45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265176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Other Frameworks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JSON → agent → Excel pipeline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scope.md for IFRS or UK GAAP manifest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agents re-prompted per standard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completeness_prompt field is framework-agnostic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143000"/>
            <a:ext cx="2651760" cy="3383280"/>
          </a:xfrm>
          <a:prstGeom prst="rect">
            <a:avLst/>
          </a:prstGeom>
          <a:solidFill>
            <a:srgbClr val="111B45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143000"/>
            <a:ext cx="265176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143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Entity Variants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60020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GmbH: add §285 Nr. 9 full remuneration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AG: add Aufsichtsrat, §289a HGB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entities: remove §288 Abs. 1 exempted items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accounts: add §§ 290 ff. agent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143000"/>
            <a:ext cx="2651760" cy="3383280"/>
          </a:xfrm>
          <a:prstGeom prst="rect">
            <a:avLst/>
          </a:prstGeom>
          <a:solidFill>
            <a:srgbClr val="111B45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143000"/>
            <a:ext cx="265176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143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Product Integration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checklist.json → directly ingestible by DNL ai/checklists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completeness_prompt → validator agent instructions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results.json → structured audit evidence store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generate_excel.py → white-label report output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11B45"/>
          </a:solidFill>
          <a:ln w="12700">
            <a:solidFill>
              <a:srgbClr val="111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64515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C3F7"/>
                </a:solidFill>
              </a:rPr>
              <a:t>github.com/xNR-dev/dnl-challenge-repo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64515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HGB Disclosure Checklist — DNL Take-Home Challenge</dc:title>
  <dc:subject>PptxGenJS Presentation</dc:subject>
  <dc:creator>PptxGenJS</dc:creator>
  <cp:lastModifiedBy>PptxGenJS</cp:lastModifiedBy>
  <cp:revision>1</cp:revision>
  <dcterms:created xsi:type="dcterms:W3CDTF">2026-03-28T18:58:14Z</dcterms:created>
  <dcterms:modified xsi:type="dcterms:W3CDTF">2026-03-28T18:58:14Z</dcterms:modified>
</cp:coreProperties>
</file>